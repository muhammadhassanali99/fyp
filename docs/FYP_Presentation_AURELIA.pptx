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FINAL YEAR PROJECT  ·  PROPOSAL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5400" b="1">
                <a:solidFill>
                  <a:srgbClr val="F0D78C"/>
                </a:solidFill>
                <a:latin typeface="Georgia"/>
              </a:rPr>
              <a:t>AURELIA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288036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>
                <a:solidFill>
                  <a:srgbClr val="F7F1E3"/>
                </a:solidFill>
                <a:latin typeface="Georgia"/>
              </a:rPr>
              <a:t>Gold Marketplace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B8B0A0"/>
                </a:solidFill>
                <a:latin typeface="Calibri"/>
              </a:rPr>
              <a:t>Buy, sell and auction gold with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Group Members (Registration No.)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709160"/>
            <a:ext cx="75895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7F1E3"/>
                </a:solidFill>
                <a:latin typeface="Calibri"/>
              </a:rPr>
              <a:t>_______________________________
_______________________________
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Problem Statement / Type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Type of work: Cross-platform marketplace system (mobile + 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1E3"/>
                </a:solidFill>
                <a:latin typeface="Calibri"/>
              </a:rPr>
              <a:t>Buyers and sellers lack a unified, trust-oriented digital channel to list, price, verify, search, communicate about, and auction gold items with marketplace-specific attributes (purity, weight, hallmarks, certificates, and live/quoted rates).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03520" cy="265176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Gold trading needs purity, weight &amp; rate context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Trust needs verification, stores &amp; certificates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Fragmented digital channels slow confident trades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37560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Our response — AURELIA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931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Flutter client + Node.js modular API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Gold listings, stores, rates &amp; auctions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Auth, KYC, chat, payments &amp; moderation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Literature Review /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Background from product domain · literature sources to be filled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Domain background (known)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Gold is traded as bars, coins, jewellery, and investment metal.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Usable marketplaces need listing, pricing (gram/tola/ounce, making charges), hallmarks/certificates, and buyer–seller communication.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7F1E3"/>
                </a:solidFill>
                <a:latin typeface="Calibri"/>
              </a:rPr>
              <a:t>•  AURELIA centralizes these under one Gold Marketplace product surface.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86200"/>
            <a:ext cx="10972800" cy="210312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Related work / gap matrix (fill manually)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Ref #1  _______________________________________________________________
Ref #2  _______________________________________________________________
Gap vs prior work  ____________________________________________________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Business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Stakeholders and boundaries confirmed in the current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Buyers &amp; Sellers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0632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Browse, buy, sell, and auction gold listings with structured attributes.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Gold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0632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Business store applications and verified seller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Platform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30632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Admin, moderation, support, risk, and analytics surfaces.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In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7F1E3"/>
                </a:solidFill>
                <a:latin typeface="Calibri"/>
              </a:rPr>
              <a:t>•  Flutter AURELIA Gold Marketplace client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7F1E3"/>
                </a:solidFill>
                <a:latin typeface="Calibri"/>
              </a:rPr>
              <a:t>•  Active gold API module + platform services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7F1E3"/>
                </a:solidFill>
                <a:latin typeface="Calibri"/>
              </a:rPr>
              <a:t>•  Stores, rates, auctions, chat, payments, KYC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11480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Out of scope (today)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6634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7F1E3"/>
                </a:solidFill>
                <a:latin typeface="Calibri"/>
              </a:rPr>
              <a:t>•  Property marketplace API (deactivated)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7F1E3"/>
                </a:solidFill>
                <a:latin typeface="Calibri"/>
              </a:rPr>
              <a:t>•  Vehicles marketplace API (deactivated)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7F1E3"/>
                </a:solidFill>
                <a:latin typeface="Calibri"/>
              </a:rPr>
              <a:t>•  Chemical assay / licensed AML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Methodology /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Logic flow of the study / system — architecture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91640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8869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1  Flutter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30552"/>
            <a:ext cx="8869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AURELIA UI · routing · local DB · sockets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97480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807208"/>
            <a:ext cx="8869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2  Express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36392"/>
            <a:ext cx="8869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Modular monolith · JWT · Zod · /gold registry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703320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813048"/>
            <a:ext cx="8869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3  Data &amp;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42232"/>
            <a:ext cx="8869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MySQL · Redis cache · Socket.io rooms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709160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818888"/>
            <a:ext cx="8869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4 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148072"/>
            <a:ext cx="8869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AI adapters · payments · mailer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B8B0A0"/>
                </a:solidFill>
                <a:latin typeface="Calibri"/>
              </a:rPr>
              <a:t>User → Client → API (/gold + platform) → MySQL/Redis/Sockets → Response / realtime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Tools and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12801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Flutter / Dart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go_router, signals, dio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Socket.io client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Drift / SQLite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flutter_map / geolocator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331720"/>
            <a:ext cx="12801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Node.js ≥ 20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Express 5 + TypeScript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Zod validation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JWT auth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Helmet / CORS / Pino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Data &amp; Realtime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331720"/>
            <a:ext cx="12801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MySQL (marketplace DB)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Redis (+ memory fallback)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Socket.io rooms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Migrations &amp; seeds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69164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Integrations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2331720"/>
            <a:ext cx="12801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5603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AI provider adapters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Payment adapters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Nodemailer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7F1E3"/>
                </a:solidFill>
                <a:latin typeface="Calibri"/>
              </a:rPr>
              <a:t>•  Optional OpenAI-compatible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Constraints and Limitation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4AF37"/>
                </a:solidFill>
                <a:latin typeface="Georgia"/>
              </a:rPr>
              <a:t>Payment gateways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Unconfigured drivers fall back to manual settlement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4AF37"/>
                </a:solidFill>
                <a:latin typeface="Georgia"/>
              </a:rPr>
              <a:t>AI 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Default provider is heuristic/offline; OpenAI-compatible is optional via config.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4AF37"/>
                </a:solidFill>
                <a:latin typeface="Georgia"/>
              </a:rPr>
              <a:t>Authenticity 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Gold authenticity helpers in code are not chemical assays.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4AF37"/>
                </a:solidFill>
                <a:latin typeface="Georgia"/>
              </a:rPr>
              <a:t>Marketplace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9028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Property &amp; Vehicles modules exist historically but are deactivated / out of active API scope.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4AF37"/>
                </a:solidFill>
                <a:latin typeface="Georgia"/>
              </a:rPr>
              <a:t>Trust / 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5896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AML and some trust features are partial or placeholder in places — document limits honestly.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Work Breakdown with Timelines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Packages from codebase · calendar dates left blank for manual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72800" cy="443484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4AF37"/>
                </a:solidFill>
                <a:latin typeface="Georgia"/>
              </a:rPr>
              <a:t>Work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D4AF37"/>
                </a:solidFill>
                <a:latin typeface="Georgia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7830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D4AF37"/>
                </a:solidFill>
                <a:latin typeface="Georgia"/>
              </a:rP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•  Platform core — auth, users, verification,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19456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70048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•  Listings, auctions, search, maps, favorites / 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70048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670048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45536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•  Chat, calls, notifications (Socket.io)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145536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145536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•  Payments, subscriptions, ads,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621024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621024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96512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•  AI, moderation, risk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09651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096512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720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•  Gold marketplace module + Flutter gold / store 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57200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5720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47488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•  Admin / seller / support 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047488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5047488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B8B0A0"/>
                </a:solidFill>
                <a:latin typeface="Calibri"/>
              </a:rPr>
              <a:t>____ / 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Expected outcomes of AURELIA (FYP–I)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966960" cy="96012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509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End-to-end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67128"/>
            <a:ext cx="9509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Working Flutter client + modular API for gold commerce.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788920"/>
            <a:ext cx="9966960" cy="96012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26079"/>
            <a:ext cx="9509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Gold-specific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64408"/>
            <a:ext cx="9509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Stores, rates/quotes, purity, auctions, certificates &amp; verification hooks.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886200"/>
            <a:ext cx="9966960" cy="96012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9509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Trust &amp;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61688"/>
            <a:ext cx="9509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Auth/KYC, chat, payments, moderation/risk, admin/seller/support.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983480"/>
            <a:ext cx="9966960" cy="96012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9509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Clear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58968"/>
            <a:ext cx="9509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Active gold scope; deactivated Property/Vehicles left out unless restored.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Citation list not present in the repository — fill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24128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B8B0A0"/>
                </a:solidFill>
                <a:latin typeface="Calibri"/>
              </a:rPr>
              <a:t>[ 1 ]  ___________________________________________________________________________
[ 2 ]  ___________________________________________________________________________
[ 3 ]  ___________________________________________________________________________
[ 4 ]  ___________________________________________________________________________
[ 5 ]  ___________________________________________________________________________
[ 6 ]  ___________________________________________________________________________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0D78C"/>
                </a:solidFill>
                <a:latin typeface="Georgia"/>
              </a:rPr>
              <a:t>Key Product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B0A0"/>
                </a:solidFill>
                <a:latin typeface="Calibri"/>
              </a:rPr>
              <a:t>Confirmed in the current AURELIA codebase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Auth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788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OTP, MFA, OAuth, passkeys, device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9164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Gold Commerce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14600"/>
            <a:ext cx="2788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Listings, purity/weight, rates, stores, hallmarks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69164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01168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Auctions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514600"/>
            <a:ext cx="2788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Bidding with realtime auction rooms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2788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Search, filters, maps, favorites, compare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79476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11480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17720"/>
            <a:ext cx="2788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Chat, calls, notifications (Socket.io)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79476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1E1812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11480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D4AF37"/>
                </a:solidFill>
                <a:latin typeface="Georgia"/>
              </a:rPr>
              <a:t>Trust &amp;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617720"/>
            <a:ext cx="2788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1E3"/>
                </a:solidFill>
                <a:latin typeface="Calibri"/>
              </a:rPr>
              <a:t>KYC, reviews, ads, moderation, risk,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0D78C"/>
                </a:solidFill>
                <a:latin typeface="Georgia"/>
              </a:rPr>
              <a:t>Questions &amp;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24612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F7F1E3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B8B0A0"/>
                </a:solidFill>
                <a:latin typeface="Calibri"/>
              </a:rPr>
              <a:t>AURELIA — Gold Marketplace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8B0A0"/>
                </a:solidFill>
                <a:latin typeface="Calibri"/>
              </a:rPr>
              <a:t>BSc. Information Engg. Technology  ·  AURELIA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